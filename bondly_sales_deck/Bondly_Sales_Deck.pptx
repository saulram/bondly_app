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3712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Preséntate y nombra a la empresa. Frase de apertura: 'En los próximos 10 minutos les muestro cómo Bondly convierte el reconocimiento diario en menos rotación y en datos que RRHH puede presentar a dirección.' Reemplaza [Nombre del cliente].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Ancla el reto en la rotación, el disparador de compra #1 en México. Pregunta al prospecto: '¿cuál es su rotación anual hoy?'. Deja que el 7 de 10 respire antes de pasar al costo.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Traduce el problema a dinero. El 50–200% suele sorprender: incluye reclutamiento, capacitación, curva de productividad y conocimiento perdido. Conecta: 'lo que se va en rotación es presupuesto que hoy no ven'.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giro de la historia: el reconocimiento no es un 'nice to have', es la intervención de retención más barata. Enfatiza frecuencia: por eso una app de uso diario gana a un evento anual.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Nombra el status quo del prospecto (seguramente hacen algo de esto). Estos 4 problemas son exactamente lo que Bondly resuelve — cada uno reaparece como beneficio más adelante.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pivote. Aquí revelas el producto. Sostén el mockup de 'Reconocer' — es el corazón del producto. Frase: 'Esto es lo que ve tu equipo cada mañana'.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Muestra la mecánica de un vistazo: dar → socializar → canjear. Es el loop de engagement. Recalca que reconocer toma segundos y que el que recibe gana puntos canjeables — el incentivo tangible que impulsa la adopción.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Deep-dive del acto de reconocer. Insiste en la simpleza (15 s) y en que reconocer 'cuesta' del presupuesto mensual de quien da — eso lo vuelve valioso y equitativo.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feed es la prueba social que impulsa la adopción. Menciona el toggle 'IA ON/OFF' visible en pantalla como gancho al slide de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los tres saldos con el mockup del perfil (225 / 500 / 250). El punto clave: separar 'lo que doy' de 'lo que recibo' hace el sistema justo y presupuestable para la empresa.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recompensas son el incentivo tangible. Usa ejemplos reales de la app (día libre, gift card). El catálogo es 100% configurable por empresa: gancho para el slide de expansiones.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gamificación sostiene el uso en el tiempo. Ranking + insignias + estado de cuenta dan sensación de progreso. Aclara que el ranking es motivacional, no punitivo.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clave para el comprador (RRHH/Dirección). Aquí vendes CONTROL y DATOS. Nota: los números del demo son de una cuenta de prueba; en su empresa reflejarán su realidad.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diferenciador tecnológico. Las tres funciones de IA están construidas y activas en la app. Frase: 'no es un roadmap, ya está corriendo'.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Posicionamiento competitivo. No ataques por nombre; contrasta categoría: global/enterprise vs. hecho-para-México/PyME. Cuatro pilares = tus mensajes de venta centrales.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Confirma que el prospecto es ICP. Si están fuera del rango (muy chicos o enterprise), ajusta el mensaje. Los sectores listados son los de mayor rotación en primera línea: ahí el reto es más agudo.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Honestidad: las cifras son de mercado (citadas); los logos/testimonio son placeholders para SUS datos reales. Cuando tengan clientes, reemplaza. Nunca inventes métricas de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modelo comercial: base sólido + add-ons a medida (upsell). IMPORTANTE (honestidad): la columna derecha es desarrollo a medida / roadmap, no features ya activas. Preséntalas como 'lo construimos para ti', no como 'ya existe'. Aquí se personaliza por cada empresa.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y llamada a la acción. Propón el siguiente paso concreto: una demo en vivo con datos de su empresa. Reemplaza [correo] y [teléfono]. Deja que la última frase (ventaja de retención) sea lo que recuerden.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7.png"/><Relationship Id="rId4" Type="http://schemas.openxmlformats.org/officeDocument/2006/relationships/image" Target="../media/image4.pn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29.png"/><Relationship Id="rId4" Type="http://schemas.openxmlformats.org/officeDocument/2006/relationships/image" Target="../media/image4.png"/><Relationship Id="rId9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23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39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26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29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47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9B7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PLATAFORMA DE RECONOCIMIENTO Y RECOMPENSAS</a:t>
            </a:r>
            <a:endParaRPr lang="en-US" sz="1300" dirty="0"/>
          </a:p>
        </p:txBody>
      </p:sp>
      <p:pic>
        <p:nvPicPr>
          <p:cNvPr id="3" name="Image 0" descr="assets/img/img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448" y="2286000"/>
            <a:ext cx="4114800" cy="17385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94560" y="3977640"/>
            <a:ext cx="7802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6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Convierte el reconocimiento entre tu equipo en una ventaja de retención — medible, social y móvil.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0" y="525780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Presentación comercial</a:t>
            </a:r>
            <a:r>
              <a:rPr lang="en-US" sz="1250" dirty="0">
                <a:solidFill>
                  <a:srgbClr val="6B6B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·      </a:t>
            </a:r>
            <a:r>
              <a:rPr lang="en-US" sz="1250" dirty="0">
                <a:solidFill>
                  <a:srgbClr val="8E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 Nombre del cliente ]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mg/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6428232"/>
            <a:ext cx="219456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Bondly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04285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/ 19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7724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9B7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PROBLEMA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77240" y="1024128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gente se va — y cada salida </a:t>
            </a:r>
            <a:r>
              <a:rPr lang="en-US" sz="3100" b="1" dirty="0">
                <a:solidFill>
                  <a:srgbClr val="EC48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cuesta caro.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777240" y="25146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0" b="1" dirty="0">
                <a:solidFill>
                  <a:srgbClr val="EC48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de 10</a:t>
            </a:r>
            <a:endParaRPr lang="en-US" sz="8800" dirty="0"/>
          </a:p>
        </p:txBody>
      </p:sp>
      <p:sp>
        <p:nvSpPr>
          <p:cNvPr id="8" name="Text 5"/>
          <p:cNvSpPr/>
          <p:nvPr/>
        </p:nvSpPr>
        <p:spPr>
          <a:xfrm>
            <a:off x="822960" y="37947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profesionales en México consideraban un cambio de empleo en 2024.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126480" y="2331720"/>
            <a:ext cx="5257800" cy="3383280"/>
          </a:xfrm>
          <a:prstGeom prst="roundRect">
            <a:avLst>
              <a:gd name="adj" fmla="val 3243"/>
            </a:avLst>
          </a:prstGeom>
          <a:solidFill>
            <a:srgbClr val="17171F"/>
          </a:solidFill>
          <a:ln w="12700">
            <a:solidFill>
              <a:srgbClr val="33324C"/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6446520" y="25603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reto #1 de RRHH hoy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46520" y="3127248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2" name="Image 1" descr="assets/ic/fi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8252" y="3268980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308152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Rotación alta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7223760" y="3456432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Sobre todo en operación y primera línea.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46520" y="3968496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6" name="Image 2" descr="assets/ic/he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8252" y="4110228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23760" y="392277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Desconexión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7223760" y="429768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Equipos remotos, híbridos y multi-sucursal sin sentido de pertenencia.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46520" y="4809744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0" name="Image 3" descr="assets/ic/ey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8252" y="4951476"/>
            <a:ext cx="283464" cy="28346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23760" y="476402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Cultura invisible</a:t>
            </a:r>
            <a:endParaRPr lang="en-US" sz="1650" dirty="0"/>
          </a:p>
        </p:txBody>
      </p:sp>
      <p:sp>
        <p:nvSpPr>
          <p:cNvPr id="22" name="Text 16"/>
          <p:cNvSpPr/>
          <p:nvPr/>
        </p:nvSpPr>
        <p:spPr>
          <a:xfrm>
            <a:off x="7223760" y="5138928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dirección no ve —ni puede medir— lo que pasa en el día a día.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77240" y="60533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B6B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Fuentes: OCC Mundial, 2024.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mg/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6428232"/>
            <a:ext cx="219456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Bondly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04285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/ 19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7724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9B7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COSTO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77240" y="1024128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salida se paga </a:t>
            </a:r>
            <a:r>
              <a:rPr lang="en-US" sz="3100" b="1" dirty="0">
                <a:solidFill>
                  <a:srgbClr val="EC48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dos veces.</a:t>
            </a:r>
            <a:endParaRPr lang="en-US" sz="3100" dirty="0"/>
          </a:p>
        </p:txBody>
      </p:sp>
      <p:sp>
        <p:nvSpPr>
          <p:cNvPr id="7" name="Shape 4"/>
          <p:cNvSpPr/>
          <p:nvPr/>
        </p:nvSpPr>
        <p:spPr>
          <a:xfrm>
            <a:off x="777240" y="2468880"/>
            <a:ext cx="5074920" cy="3063240"/>
          </a:xfrm>
          <a:prstGeom prst="roundRect">
            <a:avLst>
              <a:gd name="adj" fmla="val 3582"/>
            </a:avLst>
          </a:prstGeom>
          <a:solidFill>
            <a:srgbClr val="17171F"/>
          </a:solidFill>
          <a:ln w="12700">
            <a:solidFill>
              <a:srgbClr val="33324C"/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1143000" y="278892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9" name="Image 1" descr="assets/ic/coi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3020" y="294894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36118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9B7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50–200%</a:t>
            </a:r>
            <a:endParaRPr lang="en-US" sz="6000" dirty="0"/>
          </a:p>
        </p:txBody>
      </p:sp>
      <p:sp>
        <p:nvSpPr>
          <p:cNvPr id="11" name="Text 7"/>
          <p:cNvSpPr/>
          <p:nvPr/>
        </p:nvSpPr>
        <p:spPr>
          <a:xfrm>
            <a:off x="1143000" y="461772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 salario anual cuesta cubrir cada vacante.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336792" y="2468880"/>
            <a:ext cx="5074920" cy="3063240"/>
          </a:xfrm>
          <a:prstGeom prst="roundRect">
            <a:avLst>
              <a:gd name="adj" fmla="val 3582"/>
            </a:avLst>
          </a:prstGeom>
          <a:solidFill>
            <a:srgbClr val="17171F"/>
          </a:solidFill>
          <a:ln w="12700">
            <a:solidFill>
              <a:srgbClr val="33324C"/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9"/>
          <p:cNvSpPr/>
          <p:nvPr/>
        </p:nvSpPr>
        <p:spPr>
          <a:xfrm>
            <a:off x="6702552" y="2788920"/>
            <a:ext cx="640080" cy="64008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4" name="Image 2" descr="assets/ic/chart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2572" y="294894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56832" y="36118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EC48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≈ 9%</a:t>
            </a:r>
            <a:endParaRPr lang="en-US" sz="6000" dirty="0"/>
          </a:p>
        </p:txBody>
      </p:sp>
      <p:sp>
        <p:nvSpPr>
          <p:cNvPr id="16" name="Text 11"/>
          <p:cNvSpPr/>
          <p:nvPr/>
        </p:nvSpPr>
        <p:spPr>
          <a:xfrm>
            <a:off x="6702552" y="461772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 PIB mundial se pierde por bajo compromiso (US$8.9 billones/año).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777240" y="60533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B6B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Fuentes: SHRM; Gallup, State of the Global Workplace 2024.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mg/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6428232"/>
            <a:ext cx="219456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Bondly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04285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 / 19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7724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9B7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OPORTUNIDAD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77240" y="1024128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reconocimiento es la palanca más </a:t>
            </a:r>
            <a:r>
              <a:rPr lang="en-US" sz="3100" b="1" dirty="0">
                <a:solidFill>
                  <a:srgbClr val="9B7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rentable</a:t>
            </a: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RRHH.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777240" y="2542032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9B7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hasta 45%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822960" y="3529584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la rotación voluntaria se puede prevenir con buen reconocimiento.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309360" y="2542032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EC48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9×</a:t>
            </a:r>
            <a:endParaRPr lang="en-US" sz="5600" dirty="0"/>
          </a:p>
        </p:txBody>
      </p:sp>
      <p:sp>
        <p:nvSpPr>
          <p:cNvPr id="10" name="Text 7"/>
          <p:cNvSpPr/>
          <p:nvPr/>
        </p:nvSpPr>
        <p:spPr>
          <a:xfrm>
            <a:off x="6355080" y="3529584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más probabilidad de estar comprometidos entre quienes reciben reconocimiento de calidad.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77240" y="4754880"/>
            <a:ext cx="10607040" cy="960120"/>
          </a:xfrm>
          <a:prstGeom prst="roundRect">
            <a:avLst>
              <a:gd name="adj" fmla="val 11429"/>
            </a:avLst>
          </a:prstGeom>
          <a:solidFill>
            <a:srgbClr val="1E1B2E"/>
          </a:solidFill>
          <a:ln w="12700">
            <a:solidFill>
              <a:srgbClr val="33324C"/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1051560" y="4956048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3" name="Image 1" descr="assets/ic/calend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509320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83080" y="475488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frecuencia lo es todo:  </a:t>
            </a:r>
            <a:r>
              <a:rPr lang="en-US" sz="1400" b="1" dirty="0">
                <a:solidFill>
                  <a:srgbClr val="9B7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88–98% </a:t>
            </a:r>
            <a:r>
              <a:rPr lang="en-US" sz="140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los colaboradores se sienten valorados con reconocimiento frecuente, vs. </a:t>
            </a:r>
            <a:r>
              <a:rPr lang="en-US" sz="1400" b="1" dirty="0">
                <a:solidFill>
                  <a:srgbClr val="EC48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37% </a:t>
            </a:r>
            <a:r>
              <a:rPr lang="en-US" sz="140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 feedback solo anual.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77240" y="60533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B6B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Fuentes: Workhuman + Gallup, 2024; Gallup, Employee Retention (2024).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mg/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6428232"/>
            <a:ext cx="219456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Bondly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04285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 / 19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7724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9B7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REALIDAD HOY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77240" y="1024128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Pero el reconocimiento sigue viviendo en </a:t>
            </a:r>
            <a:r>
              <a:rPr lang="en-US" sz="3100" b="1" dirty="0">
                <a:solidFill>
                  <a:srgbClr val="EC48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Excel y WhatsApp.</a:t>
            </a:r>
            <a:endParaRPr lang="en-US" sz="3100" dirty="0"/>
          </a:p>
        </p:txBody>
      </p:sp>
      <p:sp>
        <p:nvSpPr>
          <p:cNvPr id="7" name="Shape 4"/>
          <p:cNvSpPr/>
          <p:nvPr/>
        </p:nvSpPr>
        <p:spPr>
          <a:xfrm>
            <a:off x="777240" y="2514600"/>
            <a:ext cx="5257800" cy="1572768"/>
          </a:xfrm>
          <a:prstGeom prst="roundRect">
            <a:avLst>
              <a:gd name="adj" fmla="val 6977"/>
            </a:avLst>
          </a:prstGeom>
          <a:solidFill>
            <a:srgbClr val="17171F"/>
          </a:solidFill>
          <a:ln w="12700">
            <a:solidFill>
              <a:srgbClr val="33324C"/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1097280" y="2834640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9" name="Image 1" descr="assets/ic/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9012" y="2976372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28800" y="277063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Esporádico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828800" y="322783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‘empleado del mes’ no mueve la aguja del compromiso.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126480" y="2514600"/>
            <a:ext cx="5257800" cy="1572768"/>
          </a:xfrm>
          <a:prstGeom prst="roundRect">
            <a:avLst>
              <a:gd name="adj" fmla="val 6977"/>
            </a:avLst>
          </a:prstGeom>
          <a:solidFill>
            <a:srgbClr val="17171F"/>
          </a:solidFill>
          <a:ln w="12700">
            <a:solidFill>
              <a:srgbClr val="33324C"/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9"/>
          <p:cNvSpPr/>
          <p:nvPr/>
        </p:nvSpPr>
        <p:spPr>
          <a:xfrm>
            <a:off x="6446520" y="2834640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4" name="Image 2" descr="assets/ic/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8252" y="2976372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78040" y="277063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Inequitativo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7178040" y="322783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Siempre se reconoce a los mismos; el resto queda invisible.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777240" y="4315968"/>
            <a:ext cx="5257800" cy="1572768"/>
          </a:xfrm>
          <a:prstGeom prst="roundRect">
            <a:avLst>
              <a:gd name="adj" fmla="val 6977"/>
            </a:avLst>
          </a:prstGeom>
          <a:solidFill>
            <a:srgbClr val="17171F"/>
          </a:solidFill>
          <a:ln w="12700">
            <a:solidFill>
              <a:srgbClr val="33324C"/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3"/>
          <p:cNvSpPr/>
          <p:nvPr/>
        </p:nvSpPr>
        <p:spPr>
          <a:xfrm>
            <a:off x="1097280" y="4636008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9" name="Image 3" descr="assets/ic/ey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9012" y="4777740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828800" y="45720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Invisible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1828800" y="50292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dirección no ve la cultura ni el esfuerzo cotidiano.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126480" y="4315968"/>
            <a:ext cx="5257800" cy="1572768"/>
          </a:xfrm>
          <a:prstGeom prst="roundRect">
            <a:avLst>
              <a:gd name="adj" fmla="val 6977"/>
            </a:avLst>
          </a:prstGeom>
          <a:solidFill>
            <a:srgbClr val="17171F"/>
          </a:solidFill>
          <a:ln w="12700">
            <a:solidFill>
              <a:srgbClr val="33324C"/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17"/>
          <p:cNvSpPr/>
          <p:nvPr/>
        </p:nvSpPr>
        <p:spPr>
          <a:xfrm>
            <a:off x="6446520" y="4636008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4" name="Image 4" descr="assets/ic/chartb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8252" y="4777740"/>
            <a:ext cx="283464" cy="28346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178040" y="45720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 datos</a:t>
            </a:r>
            <a:endParaRPr lang="en-US" sz="1700" dirty="0"/>
          </a:p>
        </p:txBody>
      </p:sp>
      <p:sp>
        <p:nvSpPr>
          <p:cNvPr id="26" name="Text 19"/>
          <p:cNvSpPr/>
          <p:nvPr/>
        </p:nvSpPr>
        <p:spPr>
          <a:xfrm>
            <a:off x="7178040" y="50292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Imposible medir participación, impacto o retorno.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mg/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6428232"/>
            <a:ext cx="219456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Bondly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04285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 / 19</a:t>
            </a:r>
            <a:endParaRPr lang="en-US" sz="1000" dirty="0"/>
          </a:p>
        </p:txBody>
      </p:sp>
      <p:pic>
        <p:nvPicPr>
          <p:cNvPr id="5" name="Image 1" descr="assets/img/img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777240"/>
            <a:ext cx="2148840" cy="90788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77240" y="196596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Convierte el reconocimiento en un </a:t>
            </a:r>
            <a:r>
              <a:rPr lang="en-US" sz="3300" b="1" dirty="0">
                <a:solidFill>
                  <a:srgbClr val="9B7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hábito diario</a:t>
            </a:r>
            <a:r>
              <a:rPr lang="en-US" sz="3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y en datos.</a:t>
            </a:r>
            <a:endParaRPr lang="en-US" sz="3300" dirty="0"/>
          </a:p>
        </p:txBody>
      </p:sp>
      <p:sp>
        <p:nvSpPr>
          <p:cNvPr id="7" name="Text 3"/>
          <p:cNvSpPr/>
          <p:nvPr/>
        </p:nvSpPr>
        <p:spPr>
          <a:xfrm>
            <a:off x="77724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reconocimiento manual e invisible  →  a una cultura medible, social y móvil que tu equipo quiere usar.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777240" y="4526280"/>
            <a:ext cx="1289304" cy="457200"/>
          </a:xfrm>
          <a:prstGeom prst="roundRect">
            <a:avLst>
              <a:gd name="adj" fmla="val 50000"/>
            </a:avLst>
          </a:prstGeom>
          <a:solidFill>
            <a:srgbClr val="1E1B2E"/>
          </a:solidFill>
          <a:ln w="12700">
            <a:solidFill>
              <a:srgbClr val="33324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5"/>
          <p:cNvSpPr/>
          <p:nvPr/>
        </p:nvSpPr>
        <p:spPr>
          <a:xfrm>
            <a:off x="777240" y="4526280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Reconocer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2231136" y="4526280"/>
            <a:ext cx="786384" cy="457200"/>
          </a:xfrm>
          <a:prstGeom prst="roundRect">
            <a:avLst>
              <a:gd name="adj" fmla="val 50000"/>
            </a:avLst>
          </a:prstGeom>
          <a:solidFill>
            <a:srgbClr val="1E1B2E"/>
          </a:solidFill>
          <a:ln w="12700">
            <a:solidFill>
              <a:srgbClr val="33324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7"/>
          <p:cNvSpPr/>
          <p:nvPr/>
        </p:nvSpPr>
        <p:spPr>
          <a:xfrm>
            <a:off x="2231136" y="4526280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Feed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182112" y="4526280"/>
            <a:ext cx="1490472" cy="457200"/>
          </a:xfrm>
          <a:prstGeom prst="roundRect">
            <a:avLst>
              <a:gd name="adj" fmla="val 50000"/>
            </a:avLst>
          </a:prstGeom>
          <a:solidFill>
            <a:srgbClr val="1E1B2E"/>
          </a:solidFill>
          <a:ln w="12700">
            <a:solidFill>
              <a:srgbClr val="33324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9"/>
          <p:cNvSpPr/>
          <p:nvPr/>
        </p:nvSpPr>
        <p:spPr>
          <a:xfrm>
            <a:off x="3182112" y="4526280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Recompensas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837176" y="4526280"/>
            <a:ext cx="1088136" cy="457200"/>
          </a:xfrm>
          <a:prstGeom prst="roundRect">
            <a:avLst>
              <a:gd name="adj" fmla="val 50000"/>
            </a:avLst>
          </a:prstGeom>
          <a:solidFill>
            <a:srgbClr val="1E1B2E"/>
          </a:solidFill>
          <a:ln w="12700">
            <a:solidFill>
              <a:srgbClr val="33324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1"/>
          <p:cNvSpPr/>
          <p:nvPr/>
        </p:nvSpPr>
        <p:spPr>
          <a:xfrm>
            <a:off x="4837176" y="4526280"/>
            <a:ext cx="1088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Ranking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089904" y="4526280"/>
            <a:ext cx="1490472" cy="457200"/>
          </a:xfrm>
          <a:prstGeom prst="roundRect">
            <a:avLst>
              <a:gd name="adj" fmla="val 50000"/>
            </a:avLst>
          </a:prstGeom>
          <a:solidFill>
            <a:srgbClr val="1E1B2E"/>
          </a:solidFill>
          <a:ln w="12700">
            <a:solidFill>
              <a:srgbClr val="33324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3"/>
          <p:cNvSpPr/>
          <p:nvPr/>
        </p:nvSpPr>
        <p:spPr>
          <a:xfrm>
            <a:off x="6089904" y="4526280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Panel admin</a:t>
            </a:r>
            <a:endParaRPr lang="en-US" sz="1200" dirty="0"/>
          </a:p>
        </p:txBody>
      </p:sp>
      <p:pic>
        <p:nvPicPr>
          <p:cNvPr id="18" name="Image 2" descr="assets/dev/1000048434_dev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411480"/>
            <a:ext cx="3285999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mg/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6428232"/>
            <a:ext cx="219456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Bondly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04285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 / 19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7724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9B7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CÓMO FUNCIONA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77240" y="1024128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ciclo simple que la gente </a:t>
            </a:r>
            <a:r>
              <a:rPr lang="en-US" sz="3100" b="1" dirty="0">
                <a:solidFill>
                  <a:srgbClr val="9B7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quiere repetir.</a:t>
            </a:r>
            <a:endParaRPr lang="en-US" sz="3100" dirty="0"/>
          </a:p>
        </p:txBody>
      </p:sp>
      <p:sp>
        <p:nvSpPr>
          <p:cNvPr id="7" name="Shape 4"/>
          <p:cNvSpPr/>
          <p:nvPr/>
        </p:nvSpPr>
        <p:spPr>
          <a:xfrm>
            <a:off x="777240" y="2423160"/>
            <a:ext cx="3401568" cy="3063240"/>
          </a:xfrm>
          <a:prstGeom prst="roundRect">
            <a:avLst>
              <a:gd name="adj" fmla="val 3582"/>
            </a:avLst>
          </a:prstGeom>
          <a:solidFill>
            <a:srgbClr val="17171F"/>
          </a:solidFill>
          <a:ln w="12700">
            <a:solidFill>
              <a:srgbClr val="33324C"/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1143000" y="2834640"/>
            <a:ext cx="868680" cy="8686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9" name="Image 1" descr="assets/ic/aw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0170" y="3051810"/>
            <a:ext cx="434340" cy="4343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18688" y="27432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3332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4400" dirty="0"/>
          </a:p>
        </p:txBody>
      </p:sp>
      <p:sp>
        <p:nvSpPr>
          <p:cNvPr id="11" name="Text 7"/>
          <p:cNvSpPr/>
          <p:nvPr/>
        </p:nvSpPr>
        <p:spPr>
          <a:xfrm>
            <a:off x="1143000" y="393192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Reconoce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1143000" y="4434840"/>
            <a:ext cx="2715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Elige una insignia, a un compañero y escribe por qué lo reconoces.</a:t>
            </a:r>
            <a:endParaRPr lang="en-US" sz="1350" dirty="0"/>
          </a:p>
        </p:txBody>
      </p:sp>
      <p:pic>
        <p:nvPicPr>
          <p:cNvPr id="13" name="Image 2" descr="assets/ic/arro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5384" y="3808476"/>
            <a:ext cx="292608" cy="29260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554728" y="2443480"/>
            <a:ext cx="3401568" cy="3063240"/>
          </a:xfrm>
          <a:prstGeom prst="roundRect">
            <a:avLst>
              <a:gd name="adj" fmla="val 3582"/>
            </a:avLst>
          </a:prstGeom>
          <a:solidFill>
            <a:srgbClr val="17171F"/>
          </a:solidFill>
          <a:ln w="12700">
            <a:solidFill>
              <a:srgbClr val="33324C"/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0"/>
          <p:cNvSpPr/>
          <p:nvPr/>
        </p:nvSpPr>
        <p:spPr>
          <a:xfrm>
            <a:off x="4910328" y="2834640"/>
            <a:ext cx="868680" cy="86868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6" name="Image 3" descr="assets/ic/commen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7498" y="3051810"/>
            <a:ext cx="434340" cy="4343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86016" y="27432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3332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4400" dirty="0"/>
          </a:p>
        </p:txBody>
      </p:sp>
      <p:sp>
        <p:nvSpPr>
          <p:cNvPr id="18" name="Text 12"/>
          <p:cNvSpPr/>
          <p:nvPr/>
        </p:nvSpPr>
        <p:spPr>
          <a:xfrm>
            <a:off x="4910328" y="393192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hace social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4910328" y="4434840"/>
            <a:ext cx="2715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reconocimiento aparece en el feed: likes, comentarios y @menciones.</a:t>
            </a:r>
            <a:endParaRPr lang="en-US" sz="1350" dirty="0"/>
          </a:p>
        </p:txBody>
      </p:sp>
      <p:pic>
        <p:nvPicPr>
          <p:cNvPr id="20" name="Image 4" descr="assets/ic/arro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2712" y="3808476"/>
            <a:ext cx="292608" cy="292608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8311896" y="2423160"/>
            <a:ext cx="3401568" cy="3063240"/>
          </a:xfrm>
          <a:prstGeom prst="roundRect">
            <a:avLst>
              <a:gd name="adj" fmla="val 3582"/>
            </a:avLst>
          </a:prstGeom>
          <a:solidFill>
            <a:srgbClr val="17171F"/>
          </a:solidFill>
          <a:ln w="12700">
            <a:solidFill>
              <a:srgbClr val="33324C"/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15"/>
          <p:cNvSpPr/>
          <p:nvPr/>
        </p:nvSpPr>
        <p:spPr>
          <a:xfrm>
            <a:off x="8677656" y="2834640"/>
            <a:ext cx="868680" cy="8686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3" name="Image 5" descr="assets/ic/gif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4826" y="3051810"/>
            <a:ext cx="434340" cy="43434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0753344" y="27432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3332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4400" dirty="0"/>
          </a:p>
        </p:txBody>
      </p:sp>
      <p:sp>
        <p:nvSpPr>
          <p:cNvPr id="25" name="Text 17"/>
          <p:cNvSpPr/>
          <p:nvPr/>
        </p:nvSpPr>
        <p:spPr>
          <a:xfrm>
            <a:off x="8677656" y="393192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Canjea</a:t>
            </a:r>
            <a:endParaRPr lang="en-US" sz="2000" dirty="0"/>
          </a:p>
        </p:txBody>
      </p:sp>
      <p:sp>
        <p:nvSpPr>
          <p:cNvPr id="26" name="Text 18"/>
          <p:cNvSpPr/>
          <p:nvPr/>
        </p:nvSpPr>
        <p:spPr>
          <a:xfrm>
            <a:off x="8677656" y="4434840"/>
            <a:ext cx="2715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 puntos acumulados se cambian por recompensas reales.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mg/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6428232"/>
            <a:ext cx="219456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Bondly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04285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 / 19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7724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9B7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PRODUCTO · RECONOCER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77240" y="1024128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Reconocer toma </a:t>
            </a:r>
            <a:r>
              <a:rPr lang="en-US" sz="3000" b="1" dirty="0">
                <a:solidFill>
                  <a:srgbClr val="9B7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segundos.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822960" y="2331720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8" name="Image 1" descr="assets/ic/med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692" y="2473452"/>
            <a:ext cx="283464" cy="2834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286000"/>
            <a:ext cx="6537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Tres tipos de insignia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1600200" y="2660904"/>
            <a:ext cx="6537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Competencias, Especiales y Valores — cada una con su identidad visual.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" y="3291840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2" name="Image 2" descr="assets/ic/coi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692" y="3433572"/>
            <a:ext cx="283464" cy="2834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3246120"/>
            <a:ext cx="6537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Otorga puntos reales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1600200" y="3621024"/>
            <a:ext cx="6537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insignia entrega puntos a quien la recibe (valor configurable).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6" name="Image 3" descr="assets/ic/a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00200" y="4206240"/>
            <a:ext cx="6537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Mensaje con @menciones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1600200" y="4581144"/>
            <a:ext cx="6537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reconocimiento siempre lleva un por qué, personal y público.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822960" y="5212080"/>
            <a:ext cx="566928" cy="56692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0" name="Image 4" descr="assets/ic/syn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4692" y="5353812"/>
            <a:ext cx="283464" cy="28346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600200" y="5166360"/>
            <a:ext cx="6537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Presupuesto mensual</a:t>
            </a:r>
            <a:endParaRPr lang="en-US" sz="1650" dirty="0"/>
          </a:p>
        </p:txBody>
      </p:sp>
      <p:sp>
        <p:nvSpPr>
          <p:cNvPr id="22" name="Text 15"/>
          <p:cNvSpPr/>
          <p:nvPr/>
        </p:nvSpPr>
        <p:spPr>
          <a:xfrm>
            <a:off x="1600200" y="5541264"/>
            <a:ext cx="6537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persona tiene puntos ‘para dar’ que se recargan solos cada mes.</a:t>
            </a:r>
            <a:endParaRPr lang="en-US" sz="1250" dirty="0"/>
          </a:p>
        </p:txBody>
      </p:sp>
      <p:pic>
        <p:nvPicPr>
          <p:cNvPr id="23" name="Image 5" descr="assets/dev/1000048434_dev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49640" y="617220"/>
            <a:ext cx="3061954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mg/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6428232"/>
            <a:ext cx="219456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Bondly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04285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 / 19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7724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9B7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PRODUCTO · FEED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77240" y="1024128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cultura, por fin </a:t>
            </a:r>
            <a:r>
              <a:rPr lang="en-US" sz="3000" b="1" dirty="0">
                <a:solidFill>
                  <a:srgbClr val="9B7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visible.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822960" y="2331720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8" name="Image 1" descr="assets/ic/comm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692" y="2473452"/>
            <a:ext cx="283464" cy="2834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286000"/>
            <a:ext cx="6537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Muro de reconocimientos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1600200" y="2660904"/>
            <a:ext cx="6537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 la empresa ve, en un solo lugar, quién aporta y por qué.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" y="3291840"/>
            <a:ext cx="566928" cy="566928"/>
          </a:xfrm>
          <a:prstGeom prst="ellipse">
            <a:avLst/>
          </a:prstGeom>
          <a:solidFill>
            <a:srgbClr val="FF4D6A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2" name="Image 2" descr="assets/ic/he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692" y="3433572"/>
            <a:ext cx="283464" cy="2834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3246120"/>
            <a:ext cx="6537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Likes y comentarios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1600200" y="3621024"/>
            <a:ext cx="6537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reconocimiento se vuelve conversación, no un correo que nadie abre.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6" name="Image 3" descr="assets/ic/bel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00200" y="4206240"/>
            <a:ext cx="6537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Avisos y banners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1600200" y="4581144"/>
            <a:ext cx="6537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Comunica campañas y noticias a todo el equipo desde la misma app.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822960" y="5212080"/>
            <a:ext cx="566928" cy="56692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0" name="Image 4" descr="assets/ic/magi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4692" y="5353812"/>
            <a:ext cx="283464" cy="28346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600200" y="5166360"/>
            <a:ext cx="6537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Orden por IA (opcional)</a:t>
            </a:r>
            <a:endParaRPr lang="en-US" sz="1650" dirty="0"/>
          </a:p>
        </p:txBody>
      </p:sp>
      <p:sp>
        <p:nvSpPr>
          <p:cNvPr id="22" name="Text 15"/>
          <p:cNvSpPr/>
          <p:nvPr/>
        </p:nvSpPr>
        <p:spPr>
          <a:xfrm>
            <a:off x="1600200" y="5541264"/>
            <a:ext cx="6537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Feed cronológico o personalizado por relevancia para cada persona.</a:t>
            </a:r>
            <a:endParaRPr lang="en-US" sz="1250" dirty="0"/>
          </a:p>
        </p:txBody>
      </p:sp>
      <p:pic>
        <p:nvPicPr>
          <p:cNvPr id="23" name="Image 5" descr="assets/dev/1000048435_dev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49640" y="617220"/>
            <a:ext cx="3061954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mg/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6428232"/>
            <a:ext cx="219456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Bondly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04285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/ 19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7724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9B7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PRODUCTO · PUNTOS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77240" y="1024128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 economía de puntos que </a:t>
            </a:r>
            <a:r>
              <a:rPr lang="en-US" sz="3000" b="1" dirty="0">
                <a:solidFill>
                  <a:srgbClr val="9B7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explica sola.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822960" y="2286000"/>
            <a:ext cx="7040880" cy="1078992"/>
          </a:xfrm>
          <a:prstGeom prst="roundRect">
            <a:avLst>
              <a:gd name="adj" fmla="val 10169"/>
            </a:avLst>
          </a:prstGeom>
          <a:solidFill>
            <a:srgbClr val="17171F"/>
          </a:solidFill>
          <a:ln w="12700">
            <a:solidFill>
              <a:srgbClr val="33324C"/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1097280" y="2596896"/>
            <a:ext cx="457200" cy="457200"/>
          </a:xfrm>
          <a:prstGeom prst="ellipse">
            <a:avLst/>
          </a:prstGeom>
          <a:solidFill>
            <a:srgbClr val="9B7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9" name="Image 1" descr="assets/ic/coi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7008" y="2706624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83080" y="2468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Acumulados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783080" y="2852928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 puntos que recibes por ser reconocido.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22960" y="3511296"/>
            <a:ext cx="7040880" cy="1078992"/>
          </a:xfrm>
          <a:prstGeom prst="roundRect">
            <a:avLst>
              <a:gd name="adj" fmla="val 10169"/>
            </a:avLst>
          </a:prstGeom>
          <a:solidFill>
            <a:srgbClr val="17171F"/>
          </a:solidFill>
          <a:ln w="12700">
            <a:solidFill>
              <a:srgbClr val="33324C"/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9"/>
          <p:cNvSpPr/>
          <p:nvPr/>
        </p:nvSpPr>
        <p:spPr>
          <a:xfrm>
            <a:off x="1097280" y="3822192"/>
            <a:ext cx="457200" cy="45720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4" name="Image 2" descr="assets/ic/coi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7008" y="3931920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783080" y="369417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gastar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783080" y="4078224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 saldo disponible para canjear recompensas.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22960" y="4736592"/>
            <a:ext cx="7040880" cy="1078992"/>
          </a:xfrm>
          <a:prstGeom prst="roundRect">
            <a:avLst>
              <a:gd name="adj" fmla="val 10169"/>
            </a:avLst>
          </a:prstGeom>
          <a:solidFill>
            <a:srgbClr val="17171F"/>
          </a:solidFill>
          <a:ln w="12700">
            <a:solidFill>
              <a:srgbClr val="33324C"/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3"/>
          <p:cNvSpPr/>
          <p:nvPr/>
        </p:nvSpPr>
        <p:spPr>
          <a:xfrm>
            <a:off x="1097280" y="504748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9" name="Image 3" descr="assets/ic/coi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7008" y="5157216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783080" y="49194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dar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1783080" y="53035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 presupuesto mensual para reconocer (se recarga solo).</a:t>
            </a:r>
            <a:endParaRPr lang="en-US" sz="1250" dirty="0"/>
          </a:p>
        </p:txBody>
      </p:sp>
      <p:pic>
        <p:nvPicPr>
          <p:cNvPr id="22" name="Image 4" descr="assets/dev/1000048437_dev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617220"/>
            <a:ext cx="3061954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mg/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6428232"/>
            <a:ext cx="219456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Bondly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04285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/ 19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7724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9B7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PRODUCTO · RECOMPENSAS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77240" y="1024128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Puntos que se sienten: </a:t>
            </a:r>
            <a:r>
              <a:rPr lang="en-US" sz="3100" b="1" dirty="0">
                <a:solidFill>
                  <a:srgbClr val="9B7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recompensas reales.</a:t>
            </a:r>
            <a:endParaRPr lang="en-US" sz="3100" dirty="0"/>
          </a:p>
        </p:txBody>
      </p:sp>
      <p:sp>
        <p:nvSpPr>
          <p:cNvPr id="7" name="Shape 4"/>
          <p:cNvSpPr/>
          <p:nvPr/>
        </p:nvSpPr>
        <p:spPr>
          <a:xfrm>
            <a:off x="777240" y="2286000"/>
            <a:ext cx="3401568" cy="2011680"/>
          </a:xfrm>
          <a:prstGeom prst="roundRect">
            <a:avLst>
              <a:gd name="adj" fmla="val 5455"/>
            </a:avLst>
          </a:prstGeom>
          <a:solidFill>
            <a:srgbClr val="17171F"/>
          </a:solidFill>
          <a:ln w="12700">
            <a:solidFill>
              <a:srgbClr val="33324C"/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1143000" y="2578608"/>
            <a:ext cx="777240" cy="7772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9" name="Image 1" descr="assets/ic/seedl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7310" y="2772918"/>
            <a:ext cx="388620" cy="3886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345643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Experiencias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143000" y="3858768"/>
            <a:ext cx="271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Ej. un día libre adicional.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544568" y="2286000"/>
            <a:ext cx="3401568" cy="2011680"/>
          </a:xfrm>
          <a:prstGeom prst="roundRect">
            <a:avLst>
              <a:gd name="adj" fmla="val 5455"/>
            </a:avLst>
          </a:prstGeom>
          <a:solidFill>
            <a:srgbClr val="17171F"/>
          </a:solidFill>
          <a:ln w="12700">
            <a:solidFill>
              <a:srgbClr val="33324C"/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9"/>
          <p:cNvSpPr/>
          <p:nvPr/>
        </p:nvSpPr>
        <p:spPr>
          <a:xfrm>
            <a:off x="4910328" y="2578608"/>
            <a:ext cx="777240" cy="77724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4" name="Image 2" descr="assets/ic/ta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4638" y="2772918"/>
            <a:ext cx="388620" cy="3886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10328" y="345643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Gift Cards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4910328" y="3858768"/>
            <a:ext cx="271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Ej. tarjeta de regalo de $500 MXN.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311896" y="2286000"/>
            <a:ext cx="3401568" cy="2011680"/>
          </a:xfrm>
          <a:prstGeom prst="roundRect">
            <a:avLst>
              <a:gd name="adj" fmla="val 5455"/>
            </a:avLst>
          </a:prstGeom>
          <a:solidFill>
            <a:srgbClr val="17171F"/>
          </a:solidFill>
          <a:ln w="12700">
            <a:solidFill>
              <a:srgbClr val="33324C"/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3"/>
          <p:cNvSpPr/>
          <p:nvPr/>
        </p:nvSpPr>
        <p:spPr>
          <a:xfrm>
            <a:off x="8677656" y="2578608"/>
            <a:ext cx="777240" cy="7772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9" name="Image 3" descr="assets/ic/gif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71966" y="2772918"/>
            <a:ext cx="388620" cy="3886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677656" y="345643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Incentivos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8677656" y="3858768"/>
            <a:ext cx="271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Catálogo a medida de cada empresa.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777240" y="4553712"/>
            <a:ext cx="10607040" cy="841248"/>
          </a:xfrm>
          <a:prstGeom prst="roundRect">
            <a:avLst>
              <a:gd name="adj" fmla="val 13043"/>
            </a:avLst>
          </a:prstGeom>
          <a:solidFill>
            <a:srgbClr val="1E1B2E"/>
          </a:solidFill>
          <a:ln w="12700">
            <a:solidFill>
              <a:srgbClr val="33324C"/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17"/>
          <p:cNvSpPr/>
          <p:nvPr/>
        </p:nvSpPr>
        <p:spPr>
          <a:xfrm>
            <a:off x="1143000" y="4700016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4" name="Image 4" descr="assets/ic/stor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0160" y="4837176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801368" y="470001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Explora el catálogo</a:t>
            </a:r>
            <a:endParaRPr lang="en-US" sz="1350" dirty="0"/>
          </a:p>
        </p:txBody>
      </p:sp>
      <p:pic>
        <p:nvPicPr>
          <p:cNvPr id="26" name="Image 5" descr="assets/ic/arro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03320" y="4828032"/>
            <a:ext cx="274320" cy="27432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4572000" y="4700016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8" name="Image 6" descr="assets/ic/gif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4837176"/>
            <a:ext cx="274320" cy="27432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30368" y="470001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Agrega al carrito</a:t>
            </a:r>
            <a:endParaRPr lang="en-US" sz="1350" dirty="0"/>
          </a:p>
        </p:txBody>
      </p:sp>
      <p:pic>
        <p:nvPicPr>
          <p:cNvPr id="30" name="Image 7" descr="assets/ic/arro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32320" y="4828032"/>
            <a:ext cx="274320" cy="274320"/>
          </a:xfrm>
          <a:prstGeom prst="rect">
            <a:avLst/>
          </a:prstGeom>
        </p:spPr>
      </p:pic>
      <p:sp>
        <p:nvSpPr>
          <p:cNvPr id="31" name="Shape 21"/>
          <p:cNvSpPr/>
          <p:nvPr/>
        </p:nvSpPr>
        <p:spPr>
          <a:xfrm>
            <a:off x="8001000" y="4700016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2" name="Image 8" descr="assets/ic/che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38160" y="4837176"/>
            <a:ext cx="274320" cy="27432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8659368" y="470001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Canjea con código</a:t>
            </a:r>
            <a:endParaRPr lang="en-US" sz="1350" dirty="0"/>
          </a:p>
        </p:txBody>
      </p:sp>
      <p:sp>
        <p:nvSpPr>
          <p:cNvPr id="34" name="Text 23"/>
          <p:cNvSpPr/>
          <p:nvPr/>
        </p:nvSpPr>
        <p:spPr>
          <a:xfrm>
            <a:off x="822960" y="56692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7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✦  Recomendaciones IA  </a:t>
            </a:r>
            <a:r>
              <a:rPr lang="en-US" sz="120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sugieren la recompensa ideal para cada persona.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mg/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6428232"/>
            <a:ext cx="219456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Bondly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04285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/ 19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7724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9B7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PRODUCTO · ENGAGEMENT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77240" y="1024128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logro queda </a:t>
            </a:r>
            <a:r>
              <a:rPr lang="en-US" sz="3000" b="1" dirty="0">
                <a:solidFill>
                  <a:srgbClr val="9B7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registrado y visible.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822960" y="2331720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8" name="Image 1" descr="assets/ic/med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692" y="2473452"/>
            <a:ext cx="283464" cy="2834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286000"/>
            <a:ext cx="6537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Historial de actividad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1600200" y="2660904"/>
            <a:ext cx="6537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Reconocimientos dados y recibidos, con fecha y detalle.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" y="3291840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2" name="Image 2" descr="assets/ic/aw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692" y="3433572"/>
            <a:ext cx="283464" cy="2834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3246120"/>
            <a:ext cx="6537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Insignias y embajadores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1600200" y="3621024"/>
            <a:ext cx="6537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Colecciona insignias y destaca como embajador de un valor.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FFD648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6" name="Image 3" descr="assets/ic/troph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00200" y="4206240"/>
            <a:ext cx="6537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Ranking con podio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1600200" y="4581144"/>
            <a:ext cx="6537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Tablas por mes, trimestre y año que sanamente motivan.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822960" y="5212080"/>
            <a:ext cx="566928" cy="56692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0" name="Image 4" descr="assets/ic/coin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4692" y="5353812"/>
            <a:ext cx="283464" cy="28346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600200" y="5166360"/>
            <a:ext cx="6537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Estado de cuenta</a:t>
            </a:r>
            <a:endParaRPr lang="en-US" sz="1650" dirty="0"/>
          </a:p>
        </p:txBody>
      </p:sp>
      <p:sp>
        <p:nvSpPr>
          <p:cNvPr id="22" name="Text 15"/>
          <p:cNvSpPr/>
          <p:nvPr/>
        </p:nvSpPr>
        <p:spPr>
          <a:xfrm>
            <a:off x="1600200" y="5541264"/>
            <a:ext cx="6537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movimiento de puntos, transparente para la persona.</a:t>
            </a:r>
            <a:endParaRPr lang="en-US" sz="1250" dirty="0"/>
          </a:p>
        </p:txBody>
      </p:sp>
      <p:pic>
        <p:nvPicPr>
          <p:cNvPr id="23" name="Image 5" descr="assets/dev/1000048442_dev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49640" y="617220"/>
            <a:ext cx="3061954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mg/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6428232"/>
            <a:ext cx="219456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Bondly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04285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 / 19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7724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9B7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RRHH · ADMINISTRACIÓN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77240" y="1024128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RRHH por fin puede </a:t>
            </a:r>
            <a:r>
              <a:rPr lang="en-US" sz="3000" b="1" dirty="0">
                <a:solidFill>
                  <a:srgbClr val="9B7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medir la cultura.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822960" y="2331720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8" name="Image 1" descr="assets/ic/chart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692" y="2473452"/>
            <a:ext cx="283464" cy="2834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286000"/>
            <a:ext cx="6537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con KPIs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1600200" y="2660904"/>
            <a:ext cx="6537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Colaboradores activos, puntos en circulación, reconocimientos y canjes.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" y="3291840"/>
            <a:ext cx="566928" cy="56692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2" name="Image 2" descr="assets/ic/slid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692" y="3433572"/>
            <a:ext cx="283464" cy="2834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3246120"/>
            <a:ext cx="6537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Gestión total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1600200" y="3621024"/>
            <a:ext cx="6537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Colaboradores, insignias, recompensas, avisos y zonas — todo autoservicio.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6" name="Image 3" descr="assets/ic/chartb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00200" y="4206240"/>
            <a:ext cx="6537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Reportes y tendencias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1600200" y="4581144"/>
            <a:ext cx="6537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Uso de insignias, actividad y evolución en el tiempo.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822960" y="5212080"/>
            <a:ext cx="566928" cy="56692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0" name="Image 4" descr="assets/ic/shie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4692" y="5353812"/>
            <a:ext cx="283464" cy="28346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600200" y="5166360"/>
            <a:ext cx="6537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Roles y permisos</a:t>
            </a:r>
            <a:endParaRPr lang="en-US" sz="1650" dirty="0"/>
          </a:p>
        </p:txBody>
      </p:sp>
      <p:sp>
        <p:nvSpPr>
          <p:cNvPr id="22" name="Text 15"/>
          <p:cNvSpPr/>
          <p:nvPr/>
        </p:nvSpPr>
        <p:spPr>
          <a:xfrm>
            <a:off x="1600200" y="5541264"/>
            <a:ext cx="6537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 por módulo para tu equipo de RRHH y líderes.</a:t>
            </a:r>
            <a:endParaRPr lang="en-US" sz="1250" dirty="0"/>
          </a:p>
        </p:txBody>
      </p:sp>
      <p:pic>
        <p:nvPicPr>
          <p:cNvPr id="23" name="Image 5" descr="assets/dev/1000048439_dev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49640" y="617220"/>
            <a:ext cx="3061954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mg/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6428232"/>
            <a:ext cx="219456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Bondly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04285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 / 19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7724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9B7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DIFERENCIADOR · INTELIGENCIA ARTIFICIAL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77240" y="1024128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Inteligencia que hace el reconocimiento </a:t>
            </a:r>
            <a:r>
              <a:rPr lang="en-US" sz="3100" b="1" dirty="0">
                <a:solidFill>
                  <a:srgbClr val="9B7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más relevante.</a:t>
            </a:r>
            <a:endParaRPr lang="en-US" sz="3100" dirty="0"/>
          </a:p>
        </p:txBody>
      </p:sp>
      <p:sp>
        <p:nvSpPr>
          <p:cNvPr id="7" name="Shape 4"/>
          <p:cNvSpPr/>
          <p:nvPr/>
        </p:nvSpPr>
        <p:spPr>
          <a:xfrm>
            <a:off x="777240" y="2514600"/>
            <a:ext cx="3401568" cy="2788920"/>
          </a:xfrm>
          <a:prstGeom prst="roundRect">
            <a:avLst>
              <a:gd name="adj" fmla="val 3934"/>
            </a:avLst>
          </a:prstGeom>
          <a:solidFill>
            <a:srgbClr val="1E1B2E"/>
          </a:solidFill>
          <a:ln w="12700">
            <a:solidFill>
              <a:srgbClr val="33324C"/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1143000" y="2926080"/>
            <a:ext cx="868680" cy="8686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9" name="Image 1" descr="assets/ic/mag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0170" y="3143250"/>
            <a:ext cx="434340" cy="4343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397764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Feed personalizado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143000" y="4434840"/>
            <a:ext cx="2715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IA ordena el feed por relevancia para cada persona.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44568" y="2514600"/>
            <a:ext cx="3401568" cy="2788920"/>
          </a:xfrm>
          <a:prstGeom prst="roundRect">
            <a:avLst>
              <a:gd name="adj" fmla="val 3934"/>
            </a:avLst>
          </a:prstGeom>
          <a:solidFill>
            <a:srgbClr val="1E1B2E"/>
          </a:solidFill>
          <a:ln w="12700">
            <a:solidFill>
              <a:srgbClr val="33324C"/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9"/>
          <p:cNvSpPr/>
          <p:nvPr/>
        </p:nvSpPr>
        <p:spPr>
          <a:xfrm>
            <a:off x="4910328" y="2926080"/>
            <a:ext cx="868680" cy="86868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4" name="Image 2" descr="assets/ic/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7498" y="3143250"/>
            <a:ext cx="434340" cy="4343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10328" y="397764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Análisis de sentimiento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4910328" y="4434840"/>
            <a:ext cx="2715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Detecta el tono de cada reconocimiento y lo etiqueta.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311896" y="2514600"/>
            <a:ext cx="3401568" cy="2788920"/>
          </a:xfrm>
          <a:prstGeom prst="roundRect">
            <a:avLst>
              <a:gd name="adj" fmla="val 3934"/>
            </a:avLst>
          </a:prstGeom>
          <a:solidFill>
            <a:srgbClr val="1E1B2E"/>
          </a:solidFill>
          <a:ln w="12700">
            <a:solidFill>
              <a:srgbClr val="33324C"/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3"/>
          <p:cNvSpPr/>
          <p:nvPr/>
        </p:nvSpPr>
        <p:spPr>
          <a:xfrm>
            <a:off x="8677656" y="2926080"/>
            <a:ext cx="868680" cy="8686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9" name="Image 3" descr="assets/ic/gif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4826" y="3143250"/>
            <a:ext cx="434340" cy="4343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677656" y="397764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Recompensas sugeridas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8677656" y="4434840"/>
            <a:ext cx="2715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Recomendaciones personalizadas según cada colaborador.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777240" y="55321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Integrada y funcional dentro de la app.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mg/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6428232"/>
            <a:ext cx="219456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Bondly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04285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/ 19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7724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9B7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QUÉ BONDLY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77240" y="1024128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poder de las plataformas globales, </a:t>
            </a:r>
            <a:r>
              <a:rPr lang="en-US" sz="3100" b="1" dirty="0">
                <a:solidFill>
                  <a:srgbClr val="9B7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hecho para México.</a:t>
            </a:r>
            <a:endParaRPr lang="en-US" sz="3100" dirty="0"/>
          </a:p>
        </p:txBody>
      </p:sp>
      <p:sp>
        <p:nvSpPr>
          <p:cNvPr id="7" name="Shape 4"/>
          <p:cNvSpPr/>
          <p:nvPr/>
        </p:nvSpPr>
        <p:spPr>
          <a:xfrm>
            <a:off x="777240" y="2468880"/>
            <a:ext cx="2587752" cy="2423160"/>
          </a:xfrm>
          <a:prstGeom prst="roundRect">
            <a:avLst>
              <a:gd name="adj" fmla="val 4528"/>
            </a:avLst>
          </a:prstGeom>
          <a:solidFill>
            <a:srgbClr val="17171F"/>
          </a:solidFill>
          <a:ln w="12700">
            <a:solidFill>
              <a:srgbClr val="33324C"/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1097280" y="2834640"/>
            <a:ext cx="731520" cy="73152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9" name="Image 1" descr="assets/ic/langu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30175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370332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Español nativo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051560" y="4279392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Pensado para tu gente, no traducido.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483864" y="2468880"/>
            <a:ext cx="2587752" cy="2423160"/>
          </a:xfrm>
          <a:prstGeom prst="roundRect">
            <a:avLst>
              <a:gd name="adj" fmla="val 4528"/>
            </a:avLst>
          </a:prstGeom>
          <a:solidFill>
            <a:srgbClr val="17171F"/>
          </a:solidFill>
          <a:ln w="12700">
            <a:solidFill>
              <a:srgbClr val="33324C"/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9"/>
          <p:cNvSpPr/>
          <p:nvPr/>
        </p:nvSpPr>
        <p:spPr>
          <a:xfrm>
            <a:off x="3803904" y="2834640"/>
            <a:ext cx="731520" cy="73152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4" name="Image 2" descr="assets/ic/mobi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6784" y="301752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758184" y="370332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Móvil para todo el equipo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3758184" y="4279392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primera línea a corporativo.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190488" y="2468880"/>
            <a:ext cx="2587752" cy="2423160"/>
          </a:xfrm>
          <a:prstGeom prst="roundRect">
            <a:avLst>
              <a:gd name="adj" fmla="val 4528"/>
            </a:avLst>
          </a:prstGeom>
          <a:solidFill>
            <a:srgbClr val="17171F"/>
          </a:solidFill>
          <a:ln w="12700">
            <a:solidFill>
              <a:srgbClr val="33324C"/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3"/>
          <p:cNvSpPr/>
          <p:nvPr/>
        </p:nvSpPr>
        <p:spPr>
          <a:xfrm>
            <a:off x="6510528" y="283464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9" name="Image 3" descr="assets/ic/bo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3408" y="301752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64808" y="370332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 marcha en días</a:t>
            </a:r>
            <a:endParaRPr lang="en-US" sz="1550" dirty="0"/>
          </a:p>
        </p:txBody>
      </p:sp>
      <p:sp>
        <p:nvSpPr>
          <p:cNvPr id="21" name="Text 15"/>
          <p:cNvSpPr/>
          <p:nvPr/>
        </p:nvSpPr>
        <p:spPr>
          <a:xfrm>
            <a:off x="6464808" y="4279392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Precio PyME, sin implementación de meses.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8897112" y="2468880"/>
            <a:ext cx="2587752" cy="2423160"/>
          </a:xfrm>
          <a:prstGeom prst="roundRect">
            <a:avLst>
              <a:gd name="adj" fmla="val 4528"/>
            </a:avLst>
          </a:prstGeom>
          <a:solidFill>
            <a:srgbClr val="17171F"/>
          </a:solidFill>
          <a:ln w="12700">
            <a:solidFill>
              <a:srgbClr val="33324C"/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17"/>
          <p:cNvSpPr/>
          <p:nvPr/>
        </p:nvSpPr>
        <p:spPr>
          <a:xfrm>
            <a:off x="9217152" y="2834640"/>
            <a:ext cx="731520" cy="7315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4" name="Image 4" descr="assets/ic/chartlin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0032" y="3017520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171432" y="370332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Cultura medible</a:t>
            </a:r>
            <a:endParaRPr lang="en-US" sz="1550" dirty="0"/>
          </a:p>
        </p:txBody>
      </p:sp>
      <p:sp>
        <p:nvSpPr>
          <p:cNvPr id="26" name="Text 19"/>
          <p:cNvSpPr/>
          <p:nvPr/>
        </p:nvSpPr>
        <p:spPr>
          <a:xfrm>
            <a:off x="9171432" y="4279392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Datos que le muestras a dirección.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777240" y="5138928"/>
            <a:ext cx="10607040" cy="658368"/>
          </a:xfrm>
          <a:prstGeom prst="roundRect">
            <a:avLst>
              <a:gd name="adj" fmla="val 16667"/>
            </a:avLst>
          </a:prstGeom>
          <a:solidFill>
            <a:srgbClr val="1E1B2E"/>
          </a:solidFill>
          <a:ln w="12700">
            <a:solidFill>
              <a:srgbClr val="33324C"/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8" name="Text 21"/>
          <p:cNvSpPr/>
          <p:nvPr/>
        </p:nvSpPr>
        <p:spPr>
          <a:xfrm>
            <a:off x="1051560" y="513892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48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vs. suites enterprise:  </a:t>
            </a:r>
            <a:r>
              <a:rPr lang="en-US" sz="130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caras, en inglés, con precio ‘hablemos con ventas’ e implementación pesada que tu mid-market no necesita.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mg/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6428232"/>
            <a:ext cx="219456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Bondly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04285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 / 19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7724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9B7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QUIÉN ES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77240" y="1024128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Hecho para empresas de </a:t>
            </a:r>
            <a:r>
              <a:rPr lang="en-US" sz="3100" b="1" dirty="0">
                <a:solidFill>
                  <a:srgbClr val="9B7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 a 500</a:t>
            </a: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personas en México.</a:t>
            </a:r>
            <a:endParaRPr lang="en-US" sz="3100" dirty="0"/>
          </a:p>
        </p:txBody>
      </p:sp>
      <p:sp>
        <p:nvSpPr>
          <p:cNvPr id="7" name="Shape 4"/>
          <p:cNvSpPr/>
          <p:nvPr/>
        </p:nvSpPr>
        <p:spPr>
          <a:xfrm>
            <a:off x="777240" y="2377440"/>
            <a:ext cx="5257800" cy="3383280"/>
          </a:xfrm>
          <a:prstGeom prst="roundRect">
            <a:avLst>
              <a:gd name="adj" fmla="val 3243"/>
            </a:avLst>
          </a:prstGeom>
          <a:solidFill>
            <a:srgbClr val="17171F"/>
          </a:solidFill>
          <a:ln w="12700">
            <a:solidFill>
              <a:srgbClr val="33324C"/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109728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B7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empresa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97280" y="3108960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0" name="Image 1" descr="assets/ic/build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9012" y="325069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74520" y="30632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50–500 colaboradores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1874520" y="3438144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reconocimiento manual ya no escala; el enterprise es demasiado.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1097280" y="3950208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4" name="Image 2" descr="assets/ic/seedl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9012" y="4091940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874520" y="390448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 crecimiento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1874520" y="4279392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Abriendo turnos/sucursales y formalizando RRHH.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1097280" y="4791456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8" name="Image 3" descr="assets/ic/mobi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9012" y="4933188"/>
            <a:ext cx="283464" cy="28346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874520" y="474573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Equipos distribuidos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1874520" y="512064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Primera línea, híbridos y multi-sucursal.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126480" y="2377440"/>
            <a:ext cx="5257800" cy="3383280"/>
          </a:xfrm>
          <a:prstGeom prst="roundRect">
            <a:avLst>
              <a:gd name="adj" fmla="val 3243"/>
            </a:avLst>
          </a:prstGeom>
          <a:solidFill>
            <a:srgbClr val="17171F"/>
          </a:solidFill>
          <a:ln w="12700">
            <a:solidFill>
              <a:srgbClr val="33324C"/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Text 16"/>
          <p:cNvSpPr/>
          <p:nvPr/>
        </p:nvSpPr>
        <p:spPr>
          <a:xfrm>
            <a:off x="644652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48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Quién lo compra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446520" y="306324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Dirección / Gerencia de RRHH, </a:t>
            </a:r>
            <a:r>
              <a:rPr lang="en-US" sz="13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Cultura, Talento y Experiencia del Colaborador.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44652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E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Sectores con mayor necesidad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6446520" y="4370832"/>
            <a:ext cx="958291" cy="438912"/>
          </a:xfrm>
          <a:prstGeom prst="roundRect">
            <a:avLst>
              <a:gd name="adj" fmla="val 50000"/>
            </a:avLst>
          </a:prstGeom>
          <a:solidFill>
            <a:srgbClr val="1E1B2E"/>
          </a:solidFill>
          <a:ln w="12700">
            <a:solidFill>
              <a:srgbClr val="33324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0"/>
          <p:cNvSpPr/>
          <p:nvPr/>
        </p:nvSpPr>
        <p:spPr>
          <a:xfrm>
            <a:off x="6446520" y="4370832"/>
            <a:ext cx="9582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Retail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7541971" y="4370832"/>
            <a:ext cx="2143354" cy="438912"/>
          </a:xfrm>
          <a:prstGeom prst="roundRect">
            <a:avLst>
              <a:gd name="adj" fmla="val 50000"/>
            </a:avLst>
          </a:prstGeom>
          <a:solidFill>
            <a:srgbClr val="1E1B2E"/>
          </a:solidFill>
          <a:ln w="12700">
            <a:solidFill>
              <a:srgbClr val="33324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2"/>
          <p:cNvSpPr/>
          <p:nvPr/>
        </p:nvSpPr>
        <p:spPr>
          <a:xfrm>
            <a:off x="7541971" y="4370832"/>
            <a:ext cx="21433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BPO / Call centers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9822485" y="4370832"/>
            <a:ext cx="1452067" cy="438912"/>
          </a:xfrm>
          <a:prstGeom prst="roundRect">
            <a:avLst>
              <a:gd name="adj" fmla="val 50000"/>
            </a:avLst>
          </a:prstGeom>
          <a:solidFill>
            <a:srgbClr val="1E1B2E"/>
          </a:solidFill>
          <a:ln w="12700">
            <a:solidFill>
              <a:srgbClr val="33324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4"/>
          <p:cNvSpPr/>
          <p:nvPr/>
        </p:nvSpPr>
        <p:spPr>
          <a:xfrm>
            <a:off x="9822485" y="4370832"/>
            <a:ext cx="145206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Manufactura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6446520" y="4937760"/>
            <a:ext cx="1254557" cy="438912"/>
          </a:xfrm>
          <a:prstGeom prst="roundRect">
            <a:avLst>
              <a:gd name="adj" fmla="val 50000"/>
            </a:avLst>
          </a:prstGeom>
          <a:solidFill>
            <a:srgbClr val="1E1B2E"/>
          </a:solidFill>
          <a:ln w="12700">
            <a:solidFill>
              <a:srgbClr val="33324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26"/>
          <p:cNvSpPr/>
          <p:nvPr/>
        </p:nvSpPr>
        <p:spPr>
          <a:xfrm>
            <a:off x="6446520" y="4937760"/>
            <a:ext cx="125455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Logística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7838237" y="4937760"/>
            <a:ext cx="1254557" cy="438912"/>
          </a:xfrm>
          <a:prstGeom prst="roundRect">
            <a:avLst>
              <a:gd name="adj" fmla="val 50000"/>
            </a:avLst>
          </a:prstGeom>
          <a:solidFill>
            <a:srgbClr val="1E1B2E"/>
          </a:solidFill>
          <a:ln w="12700">
            <a:solidFill>
              <a:srgbClr val="33324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28"/>
          <p:cNvSpPr/>
          <p:nvPr/>
        </p:nvSpPr>
        <p:spPr>
          <a:xfrm>
            <a:off x="7838237" y="4937760"/>
            <a:ext cx="125455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Servicios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9229954" y="4937760"/>
            <a:ext cx="760781" cy="438912"/>
          </a:xfrm>
          <a:prstGeom prst="roundRect">
            <a:avLst>
              <a:gd name="adj" fmla="val 50000"/>
            </a:avLst>
          </a:prstGeom>
          <a:solidFill>
            <a:srgbClr val="1E1B2E"/>
          </a:solidFill>
          <a:ln w="12700">
            <a:solidFill>
              <a:srgbClr val="33324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0"/>
          <p:cNvSpPr/>
          <p:nvPr/>
        </p:nvSpPr>
        <p:spPr>
          <a:xfrm>
            <a:off x="9229954" y="4937760"/>
            <a:ext cx="76078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mg/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6428232"/>
            <a:ext cx="219456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Bondly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04285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 / 19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7724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9B7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 QUE MUEVE EN TU ORGANIZACIÓN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77240" y="1024128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Menos rotación. Más compromiso. </a:t>
            </a:r>
            <a:r>
              <a:rPr lang="en-US" sz="3100" b="1" dirty="0">
                <a:solidFill>
                  <a:srgbClr val="9B7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Cultura medible.</a:t>
            </a:r>
            <a:endParaRPr lang="en-US" sz="3100" dirty="0"/>
          </a:p>
        </p:txBody>
      </p:sp>
      <p:sp>
        <p:nvSpPr>
          <p:cNvPr id="7" name="Shape 4"/>
          <p:cNvSpPr/>
          <p:nvPr/>
        </p:nvSpPr>
        <p:spPr>
          <a:xfrm>
            <a:off x="777240" y="2286000"/>
            <a:ext cx="3401568" cy="1965960"/>
          </a:xfrm>
          <a:prstGeom prst="roundRect">
            <a:avLst>
              <a:gd name="adj" fmla="val 5581"/>
            </a:avLst>
          </a:prstGeom>
          <a:solidFill>
            <a:srgbClr val="17171F"/>
          </a:solidFill>
          <a:ln w="12700">
            <a:solidFill>
              <a:srgbClr val="33324C"/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1097280" y="2560320"/>
            <a:ext cx="566928" cy="56692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9" name="Image 1" descr="assets/ic/seedl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9012" y="2702052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83080" y="2487168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−45%</a:t>
            </a:r>
            <a:endParaRPr lang="en-US" sz="3400" dirty="0"/>
          </a:p>
        </p:txBody>
      </p:sp>
      <p:sp>
        <p:nvSpPr>
          <p:cNvPr id="11" name="Text 7"/>
          <p:cNvSpPr/>
          <p:nvPr/>
        </p:nvSpPr>
        <p:spPr>
          <a:xfrm>
            <a:off x="1143000" y="3291840"/>
            <a:ext cx="2715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rotación voluntaria evitable con buen reconocimiento.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544568" y="2286000"/>
            <a:ext cx="3401568" cy="1965960"/>
          </a:xfrm>
          <a:prstGeom prst="roundRect">
            <a:avLst>
              <a:gd name="adj" fmla="val 5581"/>
            </a:avLst>
          </a:prstGeom>
          <a:solidFill>
            <a:srgbClr val="17171F"/>
          </a:solidFill>
          <a:ln w="12700">
            <a:solidFill>
              <a:srgbClr val="33324C"/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9"/>
          <p:cNvSpPr/>
          <p:nvPr/>
        </p:nvSpPr>
        <p:spPr>
          <a:xfrm>
            <a:off x="4864608" y="2560320"/>
            <a:ext cx="566928" cy="566928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4" name="Image 2" descr="assets/ic/thumb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6340" y="2702052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550408" y="2487168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C48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9×</a:t>
            </a:r>
            <a:endParaRPr lang="en-US" sz="3400" dirty="0"/>
          </a:p>
        </p:txBody>
      </p:sp>
      <p:sp>
        <p:nvSpPr>
          <p:cNvPr id="16" name="Text 11"/>
          <p:cNvSpPr/>
          <p:nvPr/>
        </p:nvSpPr>
        <p:spPr>
          <a:xfrm>
            <a:off x="4910328" y="3291840"/>
            <a:ext cx="2715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más compromiso entre quienes reciben reconocimiento de calidad.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311896" y="2286000"/>
            <a:ext cx="3401568" cy="1965960"/>
          </a:xfrm>
          <a:prstGeom prst="roundRect">
            <a:avLst>
              <a:gd name="adj" fmla="val 5581"/>
            </a:avLst>
          </a:prstGeom>
          <a:solidFill>
            <a:srgbClr val="17171F"/>
          </a:solidFill>
          <a:ln w="12700">
            <a:solidFill>
              <a:srgbClr val="33324C"/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3"/>
          <p:cNvSpPr/>
          <p:nvPr/>
        </p:nvSpPr>
        <p:spPr>
          <a:xfrm>
            <a:off x="8631936" y="2560320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9" name="Image 3" descr="assets/ic/chartli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3668" y="2702052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317736" y="2487168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100%</a:t>
            </a:r>
            <a:endParaRPr lang="en-US" sz="3400" dirty="0"/>
          </a:p>
        </p:txBody>
      </p:sp>
      <p:sp>
        <p:nvSpPr>
          <p:cNvPr id="21" name="Text 15"/>
          <p:cNvSpPr/>
          <p:nvPr/>
        </p:nvSpPr>
        <p:spPr>
          <a:xfrm>
            <a:off x="8677656" y="3291840"/>
            <a:ext cx="2715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visibilidad: cada reconocimiento y canje, medible.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777240" y="4526280"/>
            <a:ext cx="10607040" cy="1280160"/>
          </a:xfrm>
          <a:prstGeom prst="roundRect">
            <a:avLst>
              <a:gd name="adj" fmla="val 8571"/>
            </a:avLst>
          </a:prstGeom>
          <a:solidFill>
            <a:srgbClr val="1E1B2E"/>
          </a:solidFill>
          <a:ln w="12700">
            <a:solidFill>
              <a:srgbClr val="33324C"/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Text 17"/>
          <p:cNvSpPr/>
          <p:nvPr/>
        </p:nvSpPr>
        <p:spPr>
          <a:xfrm>
            <a:off x="1051560" y="46634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E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Prueba social  ·  completar con tus datos reales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051560" y="4956048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 [ Testimonio del cliente ] ”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1051560" y="550468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E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[ Nombre, puesto, empresa ]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7498080" y="5029200"/>
            <a:ext cx="1170432" cy="685800"/>
          </a:xfrm>
          <a:prstGeom prst="roundRect">
            <a:avLst>
              <a:gd name="adj" fmla="val 13333"/>
            </a:avLst>
          </a:prstGeom>
          <a:solidFill>
            <a:srgbClr val="17171F"/>
          </a:solidFill>
          <a:ln w="12700">
            <a:solidFill>
              <a:srgbClr val="33324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1"/>
          <p:cNvSpPr/>
          <p:nvPr/>
        </p:nvSpPr>
        <p:spPr>
          <a:xfrm>
            <a:off x="7498080" y="5029200"/>
            <a:ext cx="1170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 Logo ]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8796528" y="5029200"/>
            <a:ext cx="1170432" cy="685800"/>
          </a:xfrm>
          <a:prstGeom prst="roundRect">
            <a:avLst>
              <a:gd name="adj" fmla="val 13333"/>
            </a:avLst>
          </a:prstGeom>
          <a:solidFill>
            <a:srgbClr val="17171F"/>
          </a:solidFill>
          <a:ln w="12700">
            <a:solidFill>
              <a:srgbClr val="33324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3"/>
          <p:cNvSpPr/>
          <p:nvPr/>
        </p:nvSpPr>
        <p:spPr>
          <a:xfrm>
            <a:off x="8796528" y="5029200"/>
            <a:ext cx="1170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 Logo ]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10094976" y="5029200"/>
            <a:ext cx="1170432" cy="685800"/>
          </a:xfrm>
          <a:prstGeom prst="roundRect">
            <a:avLst>
              <a:gd name="adj" fmla="val 13333"/>
            </a:avLst>
          </a:prstGeom>
          <a:solidFill>
            <a:srgbClr val="17171F"/>
          </a:solidFill>
          <a:ln w="12700">
            <a:solidFill>
              <a:srgbClr val="33324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5"/>
          <p:cNvSpPr/>
          <p:nvPr/>
        </p:nvSpPr>
        <p:spPr>
          <a:xfrm>
            <a:off x="10094976" y="5029200"/>
            <a:ext cx="1170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 Logo ]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777240" y="60533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B6B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Fuentes: Workhuman + Gallup (2024). Métricas de resultado del cliente: a completar.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mg/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6428232"/>
            <a:ext cx="219456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Bondly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04285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 / 19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7724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9B7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PLANES · A LA MEDIDA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77240" y="1024128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Empieza con el producto base. </a:t>
            </a:r>
            <a:r>
              <a:rPr lang="en-US" sz="3100" b="1" dirty="0">
                <a:solidFill>
                  <a:srgbClr val="9B7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Crece a tu medida.</a:t>
            </a:r>
            <a:endParaRPr lang="en-US" sz="3100" dirty="0"/>
          </a:p>
        </p:txBody>
      </p:sp>
      <p:sp>
        <p:nvSpPr>
          <p:cNvPr id="7" name="Shape 4"/>
          <p:cNvSpPr/>
          <p:nvPr/>
        </p:nvSpPr>
        <p:spPr>
          <a:xfrm>
            <a:off x="777240" y="2331720"/>
            <a:ext cx="5257800" cy="3657600"/>
          </a:xfrm>
          <a:prstGeom prst="roundRect">
            <a:avLst>
              <a:gd name="adj" fmla="val 3000"/>
            </a:avLst>
          </a:prstGeom>
          <a:solidFill>
            <a:srgbClr val="1E1B2E"/>
          </a:solidFill>
          <a:ln w="12700">
            <a:solidFill>
              <a:srgbClr val="33324C"/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1097280" y="260604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9" name="Image 1" descr="assets/ic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274320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83080" y="2606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Producto base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1097280" y="32004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Todo listo desde el día uno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1143000" y="3520440"/>
            <a:ext cx="4663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Reconocimiento con insignias, puntos y menciones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Feed social con likes y comentarios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Economía de puntos y recompensas canjeables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Insignias, embajadores y ranking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Panel de administración y analítica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IA integrada (feed, sentimiento, recompensas)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Multiplataforma: iOS, Android y Web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126480" y="2331720"/>
            <a:ext cx="5257800" cy="3657600"/>
          </a:xfrm>
          <a:prstGeom prst="roundRect">
            <a:avLst>
              <a:gd name="adj" fmla="val 3000"/>
            </a:avLst>
          </a:prstGeom>
          <a:solidFill>
            <a:srgbClr val="17171F"/>
          </a:solidFill>
          <a:ln w="12700">
            <a:solidFill>
              <a:srgbClr val="33324C"/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0"/>
          <p:cNvSpPr/>
          <p:nvPr/>
        </p:nvSpPr>
        <p:spPr>
          <a:xfrm>
            <a:off x="6446520" y="260604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5" name="Image 2" descr="assets/ic/puzz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274320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32320" y="2606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Sets de mejora a la medida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6446520" y="3200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B7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Desarrollo a medida / roadmap por empresa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492240" y="3520440"/>
            <a:ext cx="4663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Notificaciones push y centro de avisos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Integraciones SSO / HRIS (Workday, BambooHR…)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Slack / Microsoft Teams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Multi-empresa y multi-moneda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y webhooks para tus sistemas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White-label y marca por cliente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Analítica avanzada y exportables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mg/img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5728" y="1417320"/>
            <a:ext cx="1920240" cy="8113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2697480"/>
            <a:ext cx="94484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Convirtamos el reconocimiento en tu </a:t>
            </a:r>
            <a:r>
              <a:rPr lang="en-US" sz="3300" b="1" dirty="0">
                <a:solidFill>
                  <a:srgbClr val="9B7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ventaja de retención.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4541368" y="4160520"/>
            <a:ext cx="3108960" cy="7132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2"/>
          <p:cNvSpPr/>
          <p:nvPr/>
        </p:nvSpPr>
        <p:spPr>
          <a:xfrm>
            <a:off x="4541368" y="416052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 una demo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0" y="521208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 correo ]</a:t>
            </a:r>
            <a:r>
              <a:rPr lang="en-US" sz="1300" dirty="0">
                <a:solidFill>
                  <a:srgbClr val="6B6B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·      </a:t>
            </a:r>
            <a:r>
              <a:rPr lang="en-US" sz="130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bondly.mx</a:t>
            </a:r>
            <a:r>
              <a:rPr lang="en-US" sz="1300" dirty="0">
                <a:solidFill>
                  <a:srgbClr val="6B6B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·      </a:t>
            </a:r>
            <a:r>
              <a:rPr lang="en-US" sz="1300" dirty="0">
                <a:solidFill>
                  <a:srgbClr val="C9C9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 teléfono 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2029</Words>
  <Application>Microsoft Macintosh PowerPoint</Application>
  <PresentationFormat>Panorámica</PresentationFormat>
  <Paragraphs>266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2" baseType="lpstr">
      <vt:lpstr>Arial</vt:lpstr>
      <vt:lpstr>Montserrat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Bondly — Presentación comercial</dc:title>
  <dc:subject>PptxGenJS Presentation</dc:subject>
  <dc:creator>Bondly</dc:creator>
  <cp:lastModifiedBy>saul ramirez</cp:lastModifiedBy>
  <cp:revision>2</cp:revision>
  <dcterms:created xsi:type="dcterms:W3CDTF">2026-07-06T21:38:27Z</dcterms:created>
  <dcterms:modified xsi:type="dcterms:W3CDTF">2026-07-06T21:42:58Z</dcterms:modified>
</cp:coreProperties>
</file>